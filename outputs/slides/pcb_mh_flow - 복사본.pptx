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 err="1">
                <a:solidFill>
                  <a:srgbClr val="1A202C"/>
                </a:solidFill>
                <a:latin typeface="맑은 고딕"/>
              </a:rPr>
              <a:t>전체</a:t>
            </a:r>
            <a:r>
              <a:rPr sz="26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A202C"/>
                </a:solidFill>
                <a:latin typeface="맑은 고딕"/>
              </a:rPr>
              <a:t>연구</a:t>
            </a:r>
            <a:r>
              <a:rPr sz="26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A202C"/>
                </a:solidFill>
                <a:latin typeface="맑은 고딕"/>
              </a:rPr>
              <a:t>흐름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94183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2D3A4A"/>
          </a:solidFill>
          <a:ln w="15875">
            <a:solidFill>
              <a:srgbClr val="2D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  <a:latin typeface="맑은 고딕"/>
              </a:rPr>
              <a:t>원본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PCB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데이터셋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/>
            <a:r>
              <a:rPr sz="1000" dirty="0">
                <a:solidFill>
                  <a:srgbClr val="FFFFFF"/>
                </a:solidFill>
                <a:latin typeface="맑은 고딕"/>
              </a:rPr>
              <a:t>   </a:t>
            </a:r>
            <a:r>
              <a:rPr sz="1000" dirty="0" err="1">
                <a:solidFill>
                  <a:srgbClr val="FFFFFF"/>
                </a:solidFill>
                <a:latin typeface="맑은 고딕"/>
              </a:rPr>
              <a:t>missing_hole</a:t>
            </a:r>
            <a:r>
              <a:rPr sz="1000" dirty="0">
                <a:solidFill>
                  <a:srgbClr val="FFFFFF"/>
                </a:solidFill>
                <a:latin typeface="맑은 고딕"/>
              </a:rPr>
              <a:t> 1832장 · box 3612개  </a:t>
            </a:r>
          </a:p>
        </p:txBody>
      </p:sp>
      <p:sp>
        <p:nvSpPr>
          <p:cNvPr id="5" name="Down Arrow 4"/>
          <p:cNvSpPr/>
          <p:nvPr/>
        </p:nvSpPr>
        <p:spPr>
          <a:xfrm>
            <a:off x="1691640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5943599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결함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이미지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(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missing_hole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91640" y="212140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35915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결함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영역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추출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·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크기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정규화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  <a:p>
            <a:pPr algn="ctr"/>
            <a:r>
              <a:rPr sz="950" dirty="0">
                <a:solidFill>
                  <a:srgbClr val="5A6780"/>
                </a:solidFill>
                <a:latin typeface="맑은 고딕"/>
              </a:rPr>
              <a:t>32×32 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리사이즈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691640" y="297180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209544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공통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밝기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패턴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 smtClean="0">
                <a:solidFill>
                  <a:srgbClr val="1A202C"/>
                </a:solidFill>
                <a:latin typeface="맑은 고딕"/>
              </a:rPr>
              <a:t>D_mean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정상 PCB 이미지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599" y="2121408"/>
            <a:ext cx="274320" cy="102412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29169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09544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1" dirty="0" err="1" smtClean="0">
                <a:solidFill>
                  <a:srgbClr val="1A202C"/>
                </a:solidFill>
                <a:latin typeface="맑은 고딕"/>
              </a:rPr>
              <a:t>후보</a:t>
            </a:r>
            <a:r>
              <a:rPr sz="1200" b="1" dirty="0" smtClean="0">
                <a:solidFill>
                  <a:srgbClr val="1A202C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A202C"/>
                </a:solidFill>
                <a:latin typeface="맑은 고딕"/>
              </a:rPr>
              <a:t>탐색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+ 링 </a:t>
            </a:r>
            <a:r>
              <a:rPr sz="12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endParaRPr sz="120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246120" y="3401568"/>
            <a:ext cx="111556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943599" y="385876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34840" y="4096512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1" dirty="0" err="1">
                <a:solidFill>
                  <a:srgbClr val="1A202C"/>
                </a:solidFill>
                <a:latin typeface="맑은 고딕"/>
              </a:rPr>
              <a:t>후보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A202C"/>
                </a:solidFill>
                <a:latin typeface="맑은 고딕"/>
              </a:rPr>
              <a:t>위치</a:t>
            </a:r>
            <a:r>
              <a:rPr sz="120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lang="ko-KR" altLang="en-US" sz="1200" b="1" dirty="0" smtClean="0">
                <a:solidFill>
                  <a:srgbClr val="1A202C"/>
                </a:solidFill>
                <a:latin typeface="맑은 고딕"/>
              </a:rPr>
              <a:t>선정</a:t>
            </a:r>
            <a:endParaRPr sz="1200" b="1" dirty="0" smtClean="0">
              <a:solidFill>
                <a:srgbClr val="1A202C"/>
              </a:solidFill>
              <a:latin typeface="맑은 고딕"/>
            </a:endParaRPr>
          </a:p>
          <a:p>
            <a:pPr algn="ctr"/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이미지당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 200 → 25개 (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게이트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dirty="0" err="1" smtClean="0">
                <a:solidFill>
                  <a:srgbClr val="5A6780"/>
                </a:solidFill>
                <a:latin typeface="맑은 고딕"/>
              </a:rPr>
              <a:t>통과분</a:t>
            </a:r>
            <a:r>
              <a:rPr sz="950" dirty="0" smtClean="0">
                <a:solidFill>
                  <a:srgbClr val="5A6780"/>
                </a:solidFill>
                <a:latin typeface="맑은 고딕"/>
              </a:rPr>
              <a:t>)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5943599" y="461772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66159" y="49743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step3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855464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lang="ko-KR" altLang="en-US" sz="1200" b="1" dirty="0" smtClean="0">
                <a:solidFill>
                  <a:srgbClr val="1A202C"/>
                </a:solidFill>
                <a:latin typeface="맑은 고딕"/>
              </a:rPr>
              <a:t>결함 이식 </a:t>
            </a:r>
            <a:r>
              <a:rPr lang="ko-KR" altLang="en-US" sz="1200" b="1" dirty="0">
                <a:solidFill>
                  <a:srgbClr val="1A202C"/>
                </a:solidFill>
                <a:latin typeface="맑은 고딕"/>
              </a:rPr>
              <a:t>합성</a:t>
            </a:r>
            <a:endParaRPr sz="950" dirty="0">
              <a:solidFill>
                <a:srgbClr val="5A6780"/>
              </a:solidFill>
              <a:latin typeface="맑은 고딕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5943599" y="5376672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46320" y="5755495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 dirty="0" err="1">
                <a:solidFill>
                  <a:srgbClr val="1A202C"/>
                </a:solidFill>
                <a:latin typeface="맑은 고딕"/>
              </a:rPr>
              <a:t>합성</a:t>
            </a:r>
            <a:r>
              <a:rPr sz="11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A202C"/>
                </a:solidFill>
                <a:latin typeface="맑은 고딕"/>
              </a:rPr>
              <a:t>데이터셋</a:t>
            </a:r>
            <a:endParaRPr sz="1150" b="1" dirty="0">
              <a:solidFill>
                <a:srgbClr val="1A202C"/>
              </a:solidFill>
              <a:latin typeface="맑은 고딕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104888" y="5856079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995928" y="5837791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exp_yolo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5755495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YOLO 학습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528048" y="5856079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75520" y="5755495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2F2E6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성능 평가 (mAP50, 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69080"/>
            <a:ext cx="28803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dirty="0" err="1">
                <a:solidFill>
                  <a:srgbClr val="1A202C"/>
                </a:solidFill>
                <a:latin typeface="맑은 고딕"/>
              </a:rPr>
              <a:t>비교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실험군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lang="en-US" sz="1050" b="1" dirty="0" smtClean="0">
                <a:solidFill>
                  <a:srgbClr val="1A202C"/>
                </a:solidFill>
                <a:latin typeface="맑은 고딕"/>
              </a:rPr>
              <a:t>3</a:t>
            </a:r>
            <a:r>
              <a:rPr sz="1050" b="1" dirty="0" smtClean="0">
                <a:solidFill>
                  <a:srgbClr val="1A202C"/>
                </a:solidFill>
                <a:latin typeface="맑은 고딕"/>
              </a:rPr>
              <a:t>종 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(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삽입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위치만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202C"/>
                </a:solidFill>
                <a:latin typeface="맑은 고딕"/>
              </a:rPr>
              <a:t>다름</a:t>
            </a:r>
            <a:r>
              <a:rPr sz="1050" b="1" dirty="0">
                <a:solidFill>
                  <a:srgbClr val="1A202C"/>
                </a:solidFill>
                <a:latin typeface="맑은 고딕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370832"/>
            <a:ext cx="2880360" cy="489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5A6780"/>
                </a:solidFill>
                <a:latin typeface="맑은 고딕"/>
              </a:rPr>
              <a:t>random        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균등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무작위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(</a:t>
            </a:r>
            <a:r>
              <a:rPr sz="950" b="0" dirty="0" err="1" smtClean="0">
                <a:solidFill>
                  <a:srgbClr val="5A6780"/>
                </a:solidFill>
                <a:latin typeface="맑은 고딕"/>
              </a:rPr>
              <a:t>대조군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)</a:t>
            </a:r>
            <a:endParaRPr lang="en-US" sz="950" b="0" dirty="0" smtClean="0">
              <a:solidFill>
                <a:srgbClr val="5A678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950" dirty="0" err="1" smtClean="0">
                <a:solidFill>
                  <a:srgbClr val="5A6780"/>
                </a:solidFill>
                <a:latin typeface="맑은 고딕"/>
              </a:rPr>
              <a:t>copy_paste</a:t>
            </a:r>
            <a:r>
              <a:rPr lang="en-US" sz="950" dirty="0" smtClean="0">
                <a:solidFill>
                  <a:srgbClr val="5A6780"/>
                </a:solidFill>
                <a:latin typeface="맑은 고딕"/>
              </a:rPr>
              <a:t>     </a:t>
            </a:r>
            <a:r>
              <a:rPr lang="ko-KR" altLang="en-US" sz="950" dirty="0" smtClean="0">
                <a:solidFill>
                  <a:srgbClr val="5A6780"/>
                </a:solidFill>
                <a:latin typeface="맑은 고딕"/>
              </a:rPr>
              <a:t>이전 연구내용</a:t>
            </a:r>
            <a:endParaRPr sz="950" b="0" dirty="0" smtClean="0">
              <a:solidFill>
                <a:srgbClr val="5A678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ko-KR" altLang="en-US" sz="950" b="0" dirty="0" err="1" smtClean="0">
                <a:solidFill>
                  <a:srgbClr val="5A6780"/>
                </a:solidFill>
                <a:latin typeface="맑은 고딕"/>
              </a:rPr>
              <a:t>양불판정연구</a:t>
            </a:r>
            <a:r>
              <a:rPr sz="950" b="0" dirty="0" smtClean="0">
                <a:solidFill>
                  <a:srgbClr val="5A6780"/>
                </a:solidFill>
                <a:latin typeface="맑은 고딕"/>
              </a:rPr>
              <a:t>   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밝기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5A6780"/>
                </a:solidFill>
                <a:latin typeface="맑은 고딕"/>
              </a:rPr>
              <a:t>탐색</a:t>
            </a:r>
            <a:r>
              <a:rPr sz="950" b="0" dirty="0">
                <a:solidFill>
                  <a:srgbClr val="5A6780"/>
                </a:solidFill>
                <a:latin typeface="맑은 고딕"/>
              </a:rPr>
              <a:t> + 링 </a:t>
            </a:r>
            <a:r>
              <a:rPr sz="950" b="0" dirty="0" err="1" smtClean="0">
                <a:solidFill>
                  <a:srgbClr val="5A6780"/>
                </a:solidFill>
                <a:latin typeface="맑은 고딕"/>
              </a:rPr>
              <a:t>게이트</a:t>
            </a:r>
            <a:endParaRPr sz="950" b="0" dirty="0">
              <a:solidFill>
                <a:srgbClr val="5A67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000" y="1081510"/>
            <a:ext cx="5428638" cy="5428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맑은 고딕"/>
              </a:rPr>
              <a:t>step1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결함 영역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추출 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>&amp;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공통 특징 분석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554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018" y="4459338"/>
            <a:ext cx="7195982" cy="239866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26673" y="1777006"/>
            <a:ext cx="4483509" cy="1917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5"/>
          <p:cNvSpPr/>
          <p:nvPr/>
        </p:nvSpPr>
        <p:spPr>
          <a:xfrm>
            <a:off x="1026673" y="1777963"/>
            <a:ext cx="353961" cy="368855"/>
          </a:xfrm>
          <a:prstGeom prst="rect">
            <a:avLst/>
          </a:prstGeom>
          <a:noFill/>
          <a:ln w="41275">
            <a:solidFill>
              <a:srgbClr val="FF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1"/>
          <p:cNvSpPr/>
          <p:nvPr/>
        </p:nvSpPr>
        <p:spPr>
          <a:xfrm>
            <a:off x="1491132" y="1852662"/>
            <a:ext cx="217302" cy="219456"/>
          </a:xfrm>
          <a:prstGeom prst="rightArrow">
            <a:avLst/>
          </a:prstGeom>
          <a:solidFill>
            <a:srgbClr val="94A3B8"/>
          </a:solidFill>
          <a:ln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2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4493" y="182880"/>
            <a:ext cx="822960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후보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탐색 </a:t>
            </a:r>
            <a:r>
              <a:rPr lang="en-US" altLang="ko-KR" sz="2800" b="1" dirty="0">
                <a:solidFill>
                  <a:srgbClr val="1A202C"/>
                </a:solidFill>
                <a:latin typeface="맑은 고딕"/>
              </a:rPr>
              <a:t>+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링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/>
            </a:r>
            <a:b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</a:br>
            <a:r>
              <a:rPr lang="en-US" altLang="ko-KR" sz="2000" dirty="0"/>
              <a:t>32 × </a:t>
            </a:r>
            <a:r>
              <a:rPr lang="en-US" altLang="ko-KR" sz="2000" dirty="0" smtClean="0"/>
              <a:t>32 </a:t>
            </a:r>
            <a:r>
              <a:rPr lang="ko-KR" altLang="en-US" sz="2000" dirty="0" smtClean="0"/>
              <a:t>영역 탐색</a:t>
            </a:r>
            <a:endParaRPr lang="en-US" altLang="ko-KR" sz="2000" dirty="0"/>
          </a:p>
          <a:p>
            <a:endParaRPr lang="ko-KR" altLang="en-US" sz="28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8429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107360" y="1634350"/>
            <a:ext cx="4483509" cy="1917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5"/>
          <p:cNvSpPr/>
          <p:nvPr/>
        </p:nvSpPr>
        <p:spPr>
          <a:xfrm>
            <a:off x="2154496" y="1819734"/>
            <a:ext cx="353961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9" y="4479413"/>
            <a:ext cx="7135761" cy="2378587"/>
          </a:xfrm>
          <a:prstGeom prst="rect">
            <a:avLst/>
          </a:prstGeom>
        </p:spPr>
      </p:pic>
      <p:sp>
        <p:nvSpPr>
          <p:cNvPr id="9" name="Rectangle 45"/>
          <p:cNvSpPr/>
          <p:nvPr/>
        </p:nvSpPr>
        <p:spPr>
          <a:xfrm>
            <a:off x="2331476" y="2685687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45"/>
          <p:cNvSpPr/>
          <p:nvPr/>
        </p:nvSpPr>
        <p:spPr>
          <a:xfrm>
            <a:off x="3349114" y="2111892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45"/>
          <p:cNvSpPr/>
          <p:nvPr/>
        </p:nvSpPr>
        <p:spPr>
          <a:xfrm>
            <a:off x="4165191" y="2690034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5"/>
          <p:cNvSpPr/>
          <p:nvPr/>
        </p:nvSpPr>
        <p:spPr>
          <a:xfrm>
            <a:off x="4662949" y="1927464"/>
            <a:ext cx="393290" cy="368855"/>
          </a:xfrm>
          <a:prstGeom prst="rect">
            <a:avLst/>
          </a:prstGeom>
          <a:noFill/>
          <a:ln w="41275">
            <a:solidFill>
              <a:srgbClr val="FFFF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45"/>
          <p:cNvSpPr/>
          <p:nvPr/>
        </p:nvSpPr>
        <p:spPr>
          <a:xfrm>
            <a:off x="5236908" y="3169285"/>
            <a:ext cx="353961" cy="368855"/>
          </a:xfrm>
          <a:prstGeom prst="rect">
            <a:avLst/>
          </a:prstGeom>
          <a:noFill/>
          <a:ln w="41275">
            <a:solidFill>
              <a:srgbClr val="FF00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51"/>
          <p:cNvSpPr/>
          <p:nvPr/>
        </p:nvSpPr>
        <p:spPr>
          <a:xfrm>
            <a:off x="5701367" y="3243984"/>
            <a:ext cx="217302" cy="219456"/>
          </a:xfrm>
          <a:prstGeom prst="rightArrow">
            <a:avLst/>
          </a:prstGeom>
          <a:solidFill>
            <a:srgbClr val="94A3B8"/>
          </a:solidFill>
          <a:ln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2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44493" y="18288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후보 탐색 </a:t>
            </a:r>
            <a:r>
              <a:rPr lang="en-US" altLang="ko-KR" sz="2800" b="1" dirty="0">
                <a:solidFill>
                  <a:srgbClr val="1A202C"/>
                </a:solidFill>
                <a:latin typeface="맑은 고딕"/>
              </a:rPr>
              <a:t>+ </a:t>
            </a: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링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게이트</a:t>
            </a:r>
            <a:endParaRPr lang="en-US" altLang="ko-KR" sz="2800" b="1" dirty="0" smtClean="0">
              <a:solidFill>
                <a:srgbClr val="1A202C"/>
              </a:solidFill>
              <a:latin typeface="맑은 고딕"/>
            </a:endParaRPr>
          </a:p>
          <a:p>
            <a:r>
              <a:rPr lang="ko-KR" altLang="en-US" sz="2000" dirty="0">
                <a:solidFill>
                  <a:srgbClr val="1A202C"/>
                </a:solidFill>
                <a:latin typeface="맑은 고딕"/>
              </a:rPr>
              <a:t>후보 위치 선정</a:t>
            </a:r>
          </a:p>
        </p:txBody>
      </p:sp>
    </p:spTree>
    <p:extLst>
      <p:ext uri="{BB962C8B-B14F-4D97-AF65-F5344CB8AC3E}">
        <p14:creationId xmlns:p14="http://schemas.microsoft.com/office/powerpoint/2010/main" val="47061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275" y="1972186"/>
            <a:ext cx="2507227" cy="25072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9" y="4479413"/>
            <a:ext cx="7135761" cy="2378587"/>
          </a:xfrm>
          <a:prstGeom prst="rect">
            <a:avLst/>
          </a:prstGeom>
        </p:spPr>
      </p:pic>
      <p:cxnSp>
        <p:nvCxnSpPr>
          <p:cNvPr id="5" name="꺾인 연결선 4"/>
          <p:cNvCxnSpPr>
            <a:stCxn id="2" idx="3"/>
            <a:endCxn id="3" idx="0"/>
          </p:cNvCxnSpPr>
          <p:nvPr/>
        </p:nvCxnSpPr>
        <p:spPr>
          <a:xfrm>
            <a:off x="4381502" y="3225800"/>
            <a:ext cx="4242618" cy="125361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 smtClean="0">
                <a:solidFill>
                  <a:srgbClr val="FFFFFF"/>
                </a:solidFill>
                <a:latin typeface="맑은 고딕"/>
              </a:rPr>
              <a:t>step</a:t>
            </a:r>
            <a:r>
              <a:rPr lang="en-US" sz="2000" b="1" dirty="0" smtClean="0">
                <a:solidFill>
                  <a:srgbClr val="FFFFFF"/>
                </a:solidFill>
                <a:latin typeface="맑은 고딕"/>
              </a:rPr>
              <a:t>3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결함 이식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합성</a:t>
            </a:r>
            <a:endParaRPr lang="en-US" altLang="ko-KR" sz="2800" b="1" dirty="0" smtClean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380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33725" y="30400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76450" y="3132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53736"/>
              </p:ext>
            </p:extLst>
          </p:nvPr>
        </p:nvGraphicFramePr>
        <p:xfrm>
          <a:off x="4262645" y="1979613"/>
          <a:ext cx="4555048" cy="1609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8785"/>
                <a:gridCol w="1251870"/>
                <a:gridCol w="1405608"/>
                <a:gridCol w="948785"/>
              </a:tblGrid>
              <a:tr h="419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Rate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Original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Added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effectLst/>
                        </a:rPr>
                        <a:t>Total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20%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366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2,198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40%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733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2,565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60%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1,099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2,931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80%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1,466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3,298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100%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1,832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>
                          <a:effectLst/>
                        </a:rPr>
                        <a:t>1,832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500" u="none" strike="noStrike" dirty="0">
                          <a:effectLst/>
                        </a:rPr>
                        <a:t>3,664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863949"/>
              </p:ext>
            </p:extLst>
          </p:nvPr>
        </p:nvGraphicFramePr>
        <p:xfrm>
          <a:off x="4262645" y="4036048"/>
          <a:ext cx="5030442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7833"/>
                <a:gridCol w="3102609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effectLst/>
                        </a:rPr>
                        <a:t>Method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effectLst/>
                        </a:rPr>
                        <a:t>mAP@0.5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Baseline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>
                          <a:effectLst/>
                        </a:rPr>
                        <a:t>0.3591 ± 0.0426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Random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>
                          <a:effectLst/>
                        </a:rPr>
                        <a:t>0.4249 ± 0.0261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>
                          <a:effectLst/>
                        </a:rPr>
                        <a:t>양불판정연구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500" u="none" strike="noStrike" dirty="0">
                          <a:effectLst/>
                        </a:rPr>
                        <a:t>0.4533 ± </a:t>
                      </a:r>
                      <a:r>
                        <a:rPr lang="en-US" altLang="ko-KR" sz="1500" u="none" strike="noStrike" dirty="0" smtClean="0">
                          <a:effectLst/>
                        </a:rPr>
                        <a:t>0.030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542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 dirty="0" err="1">
                          <a:effectLst/>
                        </a:rPr>
                        <a:t>양불판정연구</a:t>
                      </a:r>
                      <a:r>
                        <a:rPr lang="ko-KR" altLang="en-US" sz="1500" u="none" strike="noStrike" dirty="0">
                          <a:effectLst/>
                        </a:rPr>
                        <a:t> </a:t>
                      </a:r>
                      <a:r>
                        <a:rPr lang="en-US" altLang="ko-KR" sz="1500" u="none" strike="noStrike" dirty="0">
                          <a:effectLst/>
                        </a:rPr>
                        <a:t>vs. Baseline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>
                          <a:effectLst/>
                        </a:rPr>
                        <a:t>+9.42 pp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  <a:tr h="552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500" u="none" strike="noStrike">
                          <a:effectLst/>
                        </a:rPr>
                        <a:t>양불판정연구 </a:t>
                      </a:r>
                      <a:r>
                        <a:rPr lang="en-US" altLang="ko-KR" sz="1500" u="none" strike="noStrike">
                          <a:effectLst/>
                        </a:rPr>
                        <a:t>vs. Random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u="none" strike="noStrike" dirty="0">
                          <a:effectLst/>
                        </a:rPr>
                        <a:t>+2.84 </a:t>
                      </a:r>
                      <a:r>
                        <a:rPr lang="en-US" sz="1500" u="none" strike="noStrike" dirty="0" err="1">
                          <a:effectLst/>
                        </a:rPr>
                        <a:t>pp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Rounded Rectangle 6"/>
          <p:cNvSpPr/>
          <p:nvPr/>
        </p:nvSpPr>
        <p:spPr>
          <a:xfrm>
            <a:off x="0" y="-1"/>
            <a:ext cx="1580322" cy="745435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 err="1" smtClean="0">
                <a:solidFill>
                  <a:srgbClr val="FFFFFF"/>
                </a:solidFill>
                <a:latin typeface="맑은 고딕"/>
              </a:rPr>
              <a:t>exp_yolo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4493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800" b="1" dirty="0">
                <a:solidFill>
                  <a:srgbClr val="1A202C"/>
                </a:solidFill>
                <a:latin typeface="맑은 고딕"/>
              </a:rPr>
              <a:t>합성 </a:t>
            </a:r>
            <a:r>
              <a:rPr lang="ko-KR" altLang="en-US" sz="2800" b="1" dirty="0" err="1" smtClean="0">
                <a:solidFill>
                  <a:srgbClr val="1A202C"/>
                </a:solidFill>
                <a:latin typeface="맑은 고딕"/>
              </a:rPr>
              <a:t>데이터셋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 </a:t>
            </a:r>
            <a:r>
              <a:rPr lang="en-US" altLang="ko-KR" sz="2800" b="1" dirty="0" smtClean="0">
                <a:solidFill>
                  <a:srgbClr val="1A202C"/>
                </a:solidFill>
                <a:latin typeface="맑은 고딕"/>
              </a:rPr>
              <a:t>&amp; </a:t>
            </a:r>
            <a:r>
              <a:rPr lang="ko-KR" altLang="en-US" sz="2800" b="1" dirty="0" smtClean="0">
                <a:solidFill>
                  <a:srgbClr val="1A202C"/>
                </a:solidFill>
                <a:latin typeface="맑은 고딕"/>
              </a:rPr>
              <a:t>성능평가</a:t>
            </a:r>
            <a:endParaRPr sz="2600" b="1" dirty="0">
              <a:solidFill>
                <a:srgbClr val="1A202C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74961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185</Words>
  <Application>Microsoft Office PowerPoint</Application>
  <PresentationFormat>와이드스크린</PresentationFormat>
  <Paragraphs>70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Palatino Linotype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2026-09-18T06:01:12Z</dcterms:modified>
  <cp:category/>
</cp:coreProperties>
</file>