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202C"/>
                </a:solidFill>
                <a:latin typeface="맑은 고딕"/>
              </a:rPr>
              <a:t>전체 연구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780"/>
                </a:solidFill>
                <a:latin typeface="맑은 고딕"/>
              </a:rPr>
              <a:t>밝기 기반 후보 탐색 → 정반사 재질 검증 → 코어 이식 합성 (정본 설계)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41832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2D3A4A"/>
          </a:solidFill>
          <a:ln w="15875">
            <a:solidFill>
              <a:srgbClr val="2D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원본 PCB 데이터셋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맑은 고딕"/>
              </a:rPr>
              <a:t>   missing_hole 1832장 · box 3612개   |   split 2종: mh_board(보드 분리) / mh_orig(공개 split)</a:t>
            </a:r>
          </a:p>
        </p:txBody>
      </p:sp>
      <p:sp>
        <p:nvSpPr>
          <p:cNvPr id="5" name="Down Arrow 4"/>
          <p:cNvSpPr/>
          <p:nvPr/>
        </p:nvSpPr>
        <p:spPr>
          <a:xfrm>
            <a:off x="1691640" y="1453896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5943599" y="1453896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결함 이미지 (missing_hole)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91640" y="2121408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359152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결함 영역 추출 · 크기 정규화</a:t>
            </a:r>
          </a:p>
          <a:p>
            <a:pPr algn="ctr"/>
            <a:r>
              <a:rPr sz="950">
                <a:solidFill>
                  <a:srgbClr val="5A6780"/>
                </a:solidFill>
                <a:latin typeface="맑은 고딕"/>
              </a:rPr>
              <a:t>32×32 리사이즈 · crop별 z 정규화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691640" y="2971800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209544"/>
            <a:ext cx="2651760" cy="603504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공통 밝기 패턴 D_mean</a:t>
            </a:r>
          </a:p>
          <a:p>
            <a:pPr algn="ctr"/>
            <a:r>
              <a:rPr sz="950">
                <a:solidFill>
                  <a:srgbClr val="5A6780"/>
                </a:solidFill>
                <a:latin typeface="맑은 고딕"/>
              </a:rPr>
              <a:t>중심 z −1.00 / 링 피크 +0.84 (과녁형)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291840" cy="38404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정상 PCB 이미지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599" y="2121408"/>
            <a:ext cx="274320" cy="102412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916936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09544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A202C"/>
                </a:solidFill>
                <a:latin typeface="맑은 고딕"/>
              </a:rPr>
              <a:t>밝기 기반 후보 탐색 + 링 게이트</a:t>
            </a:r>
          </a:p>
          <a:p>
            <a:pPr algn="ctr"/>
            <a:r>
              <a:rPr sz="950">
                <a:solidFill>
                  <a:srgbClr val="5A6780"/>
                </a:solidFill>
                <a:latin typeface="맑은 고딕"/>
              </a:rPr>
              <a:t>다중 스케일 NCC {20…48} · recall@50 90.9%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46120" y="3401568"/>
            <a:ext cx="111556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943599" y="3858768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4096512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A202C"/>
                </a:solidFill>
                <a:latin typeface="맑은 고딕"/>
              </a:rPr>
              <a:t>후보 위치 다수</a:t>
            </a:r>
          </a:p>
          <a:p>
            <a:pPr algn="ctr"/>
            <a:r>
              <a:rPr sz="950">
                <a:solidFill>
                  <a:srgbClr val="5A6780"/>
                </a:solidFill>
                <a:latin typeface="맑은 고딕"/>
              </a:rPr>
              <a:t>이미지당 200 → 25개 (게이트 통과분)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43599" y="4617720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59" y="4974336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855464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FDEBD8"/>
          </a:solidFill>
          <a:ln w="15875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A202C"/>
                </a:solidFill>
                <a:latin typeface="맑은 고딕"/>
              </a:rPr>
              <a:t>정반사 검증 (후보 재질 판별)</a:t>
            </a:r>
          </a:p>
          <a:p>
            <a:pPr algn="ctr"/>
            <a:r>
              <a:rPr sz="950">
                <a:solidFill>
                  <a:srgbClr val="5A6780"/>
                </a:solidFill>
                <a:latin typeface="맑은 고딕"/>
              </a:rPr>
              <a:t>유효 관통홀 pad만 통과 · spec 특징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43599" y="5376672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59" y="5733288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step4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5614416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FDEBD8"/>
          </a:solidFill>
          <a:ln w="15875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A202C"/>
                </a:solidFill>
                <a:latin typeface="맑은 고딕"/>
              </a:rPr>
              <a:t>코어 이식 합성 (Core Transplant)</a:t>
            </a:r>
          </a:p>
          <a:p>
            <a:pPr algn="ctr"/>
            <a:r>
              <a:rPr sz="950">
                <a:solidFill>
                  <a:srgbClr val="5A6780"/>
                </a:solidFill>
                <a:latin typeface="맑은 고딕"/>
              </a:rPr>
              <a:t>대상 pad 금속 링 보존 · 초록 코어만 이식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532120" y="6135624"/>
            <a:ext cx="274320" cy="201168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6373368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합성 데이터셋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693408" y="6473952"/>
            <a:ext cx="30175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84448" y="6455664"/>
            <a:ext cx="749808" cy="237744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exp_yolo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6373368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YOLO 학습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16568" y="6473952"/>
            <a:ext cx="30175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64040" y="6373368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E2F2E6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1A202C"/>
                </a:solidFill>
                <a:latin typeface="맑은 고딕"/>
              </a:rPr>
              <a:t>성능 평가 (mAP50, Δ)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2803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9C4A0E"/>
                </a:solidFill>
                <a:latin typeface="맑은 고딕"/>
              </a:rPr>
              <a:t>◀ 교체 1 — 원안 '주변 구조(Context) 검증'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9C4A0E"/>
                </a:solidFill>
                <a:latin typeface="맑은 고딕"/>
              </a:rPr>
              <a:t>   Context AUC 0.524 (무작위 수준), 최적 λ = 0.00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9C4A0E"/>
                </a:solidFill>
                <a:latin typeface="맑은 고딕"/>
              </a:rPr>
              <a:t>   Specular 0.874 → 밝기 결합 0.918, top-20 유효 pad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586984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9C4A0E"/>
                </a:solidFill>
                <a:latin typeface="맑은 고딕"/>
              </a:rPr>
              <a:t>◀ 교체 2 — 원안 'donor crop 통째 Copy-Paste'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9C4A0E"/>
                </a:solidFill>
                <a:latin typeface="맑은 고딕"/>
              </a:rPr>
              <a:t>   통째 방식 채도 MAD 32.4 → 코어 이식 21.6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9C4A0E"/>
                </a:solidFill>
                <a:latin typeface="맑은 고딕"/>
              </a:rPr>
              <a:t>   대상 픽셀 사용 → 조명·형태 정합이 구조적으로 보장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69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202C"/>
                </a:solidFill>
                <a:latin typeface="맑은 고딕"/>
              </a:rPr>
              <a:t>비교 실험군 4종 (삽입 위치만 다름)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370832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random         균등 무작위 (대조군)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brightness    밝기 탐색 + 링 게이트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context        밝기 → 주변 구조 재정렬 (기각안)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brightspec    z(ncc) + 1.5·z(spec) ← 제안 방법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5046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C4A0E"/>
                </a:solidFill>
                <a:latin typeface="맑은 고딕"/>
              </a:rPr>
              <a:t>합성 QC: 유도 3종 채도 MAD 19~22 (서로 2.6 이내)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9C4A0E"/>
                </a:solidFill>
                <a:latin typeface="맑은 고딕"/>
              </a:rPr>
              <a:t>random 108.3 — 금속 링 없음 = 물리적으로 결함 아님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202C"/>
                </a:solidFill>
                <a:latin typeface="맑은 고딕"/>
              </a:rPr>
              <a:t>step2 — 정상 PCB에서 밝기 기반 후보 탐색 (sliding window)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780"/>
                </a:solidFill>
                <a:latin typeface="맑은 고딕"/>
              </a:rPr>
              <a:t>정상 PCB 위를 window로 훑으며 각 위치의 밝기 패턴을 D_mean과 비교한다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Normal PCB (정상 PCB 이미지)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6355080" cy="4315968"/>
          </a:xfrm>
          <a:prstGeom prst="rect">
            <a:avLst/>
          </a:prstGeom>
          <a:solidFill>
            <a:srgbClr val="E4EEE1"/>
          </a:solidFill>
          <a:ln w="19050">
            <a:solidFill>
              <a:srgbClr val="6E8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" y="172821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86537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85416" y="172821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22576" y="186537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74136" y="172821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11296" y="186537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2856" y="172821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0016" y="186537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51576" y="172821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88736" y="186537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6" y="268833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856" y="282549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85416" y="268833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2576" y="282549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74136" y="268833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11296" y="282549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62856" y="268833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00016" y="282549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68833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8736" y="282549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" y="364845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3856" y="3785615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85416" y="364845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22576" y="3785615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74136" y="364845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11296" y="3785615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62856" y="364845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00016" y="3785615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51576" y="364845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88736" y="3785615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6696" y="460857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3856" y="474573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85416" y="460857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22576" y="474573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74136" y="460857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11296" y="474573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62856" y="460857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00016" y="474573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751576" y="4608576"/>
            <a:ext cx="475488" cy="475488"/>
          </a:xfrm>
          <a:prstGeom prst="ellipse">
            <a:avLst/>
          </a:prstGeom>
          <a:solidFill>
            <a:srgbClr val="C2C8D2"/>
          </a:solidFill>
          <a:ln w="9525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88736" y="4745736"/>
            <a:ext cx="201168" cy="201168"/>
          </a:xfrm>
          <a:prstGeom prst="ellipse">
            <a:avLst/>
          </a:prstGeom>
          <a:solidFill>
            <a:srgbClr val="E4EEE1"/>
          </a:solidFill>
          <a:ln w="6350">
            <a:solidFill>
              <a:srgbClr val="8A9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1508760"/>
            <a:ext cx="914400" cy="914400"/>
          </a:xfrm>
          <a:prstGeom prst="rect">
            <a:avLst/>
          </a:prstGeom>
          <a:noFill/>
          <a:ln w="19050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5960" y="1508760"/>
            <a:ext cx="914400" cy="914400"/>
          </a:xfrm>
          <a:prstGeom prst="rect">
            <a:avLst/>
          </a:prstGeom>
          <a:noFill/>
          <a:ln w="19050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54680" y="2468880"/>
            <a:ext cx="914400" cy="914400"/>
          </a:xfrm>
          <a:prstGeom prst="rect">
            <a:avLst/>
          </a:prstGeom>
          <a:noFill/>
          <a:ln w="19050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32120" y="3429000"/>
            <a:ext cx="914400" cy="914400"/>
          </a:xfrm>
          <a:prstGeom prst="rect">
            <a:avLst/>
          </a:prstGeom>
          <a:noFill/>
          <a:ln w="28575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248716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B6CB0"/>
                </a:solidFill>
                <a:latin typeface="맑은 고딕"/>
              </a:rPr>
              <a:t>32×32 window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2392" y="44074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DD6B20"/>
                </a:solidFill>
                <a:latin typeface="맑은 고딕"/>
              </a:rPr>
              <a:t>NCC 최대 → 후보 피크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1709928" y="1856231"/>
            <a:ext cx="23774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81328" y="301752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행 이동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719072" y="2542032"/>
            <a:ext cx="219456" cy="43891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2898648" y="1856231"/>
            <a:ext cx="23774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ight Arrow 55"/>
          <p:cNvSpPr/>
          <p:nvPr/>
        </p:nvSpPr>
        <p:spPr>
          <a:xfrm>
            <a:off x="4087368" y="2816352"/>
            <a:ext cx="23774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63040" y="52303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1A202C"/>
                </a:solidFill>
                <a:latin typeface="맑은 고딕"/>
              </a:rPr>
              <a:t>모든 위치 p × 7 스케일에 대해 NCC 계산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54498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점선 = 각 위치의 window W_p     실선(주황) = 응답 최대 위치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10241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① 다중 스케일 — 원안 32×32 단일 → 정본 7 스케일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86600" y="1298448"/>
            <a:ext cx="4599432" cy="12984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62671" y="1673351"/>
            <a:ext cx="402336" cy="402336"/>
          </a:xfrm>
          <a:prstGeom prst="rect">
            <a:avLst/>
          </a:prstGeom>
          <a:noFill/>
          <a:ln w="15875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52360" y="2377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20×20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04503" y="1591055"/>
            <a:ext cx="566928" cy="566928"/>
          </a:xfrm>
          <a:prstGeom prst="rect">
            <a:avLst/>
          </a:prstGeom>
          <a:noFill/>
          <a:ln w="15875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76488" y="2377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28×28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46336" y="1508760"/>
            <a:ext cx="731520" cy="731520"/>
          </a:xfrm>
          <a:prstGeom prst="rect">
            <a:avLst/>
          </a:prstGeom>
          <a:noFill/>
          <a:ln w="15875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0616" y="2377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36×36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469880" y="1408175"/>
            <a:ext cx="932688" cy="932688"/>
          </a:xfrm>
          <a:prstGeom prst="rect">
            <a:avLst/>
          </a:prstGeom>
          <a:noFill/>
          <a:ln w="15875">
            <a:solidFill>
              <a:srgbClr val="2B6C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24744" y="2377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48×48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8040" y="13716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스케일 {20, 24, 28, 32, 36, 40, 48}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600" y="27432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② 점수 계산과 후보 추출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86600" y="3017520"/>
            <a:ext cx="4599432" cy="530352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1A202C"/>
                </a:solidFill>
                <a:latin typeface="맑은 고딕"/>
              </a:rPr>
              <a:t>window별 z 정규화 후 상관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NCC(p) = corr(D_mean, W_p) — cv2.matchTemplate TM_CCOEFF_NORMED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9281160" y="3566160"/>
            <a:ext cx="219456" cy="10058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086600" y="3675887"/>
            <a:ext cx="4599432" cy="530352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1A202C"/>
                </a:solidFill>
                <a:latin typeface="맑은 고딕"/>
              </a:rPr>
              <a:t>스케일별 score map 합성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픽셀별 최대 응답 선택 → 크기 무관 단일 응답맵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9281160" y="4224527"/>
            <a:ext cx="219456" cy="10058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086600" y="4334256"/>
            <a:ext cx="4599432" cy="530352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1A202C"/>
                </a:solidFill>
                <a:latin typeface="맑은 고딕"/>
              </a:rPr>
              <a:t>NMS 피크 추출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국소 최대만 남김 → 상위 200개 후보</a:t>
            </a:r>
          </a:p>
        </p:txBody>
      </p:sp>
      <p:sp>
        <p:nvSpPr>
          <p:cNvPr id="76" name="Down Arrow 75"/>
          <p:cNvSpPr/>
          <p:nvPr/>
        </p:nvSpPr>
        <p:spPr>
          <a:xfrm>
            <a:off x="9281160" y="4882896"/>
            <a:ext cx="219456" cy="10058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086600" y="4992624"/>
            <a:ext cx="4599432" cy="530352"/>
          </a:xfrm>
          <a:prstGeom prst="roundRect">
            <a:avLst>
              <a:gd name="adj" fmla="val 12000"/>
            </a:avLst>
          </a:prstGeom>
          <a:solidFill>
            <a:srgbClr val="FDEBD8"/>
          </a:solidFill>
          <a:ln w="15875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1A202C"/>
                </a:solidFill>
                <a:latin typeface="맑은 고딕"/>
              </a:rPr>
              <a:t>링 게이트 통과분만 유지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이미지당 25개 · recall@10 67.5% → 82.1%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" y="579729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원안은 32×32 단일 스케일 + MSE였다. box 실측 median 27.4 px이지만 maxwh ≤ 32를 만족하는 box는 64%뿐이라 단일 스케일은 큰 hole을 놓친다 → 7 스케일로 교체.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MSE는 조명 차이(조명 10종, crop 평균 밝기 편차 14.6 grey level)가 패턴 차이를 압도한다. window별 z 정규화 상관(NCC)은 이 문제를 구조적으로 제거한다 (R² 0.269 → 0.398).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202C"/>
                </a:solidFill>
                <a:latin typeface="맑은 고딕"/>
              </a:rPr>
              <a:t>step2 — 탐색 성능과 링 게이트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780"/>
                </a:solidFill>
                <a:latin typeface="맑은 고딕"/>
              </a:rPr>
              <a:t>다중 스케일 sliding window NCC → 스케일 합성·NMS → 링 게이트  (원안: 32×32 단일 스케일 + MSE → 정본: 7 스케일 + 정규화 상호상관)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2011680" cy="93268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 w="15875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A202C"/>
                </a:solidFill>
                <a:latin typeface="맑은 고딕"/>
              </a:rPr>
              <a:t>① 입력: 정상 PCB 이미지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600×600 / 601×601 혼재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이미지마다 W·H 읽어 좌표 환산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51176" y="1380744"/>
            <a:ext cx="31089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8648" y="1024128"/>
            <a:ext cx="2011680" cy="93268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A202C"/>
                </a:solidFill>
                <a:latin typeface="맑은 고딕"/>
              </a:rPr>
              <a:t>② 다중 스케일 템플릿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D_mean을 7 스케일로 리사이즈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{20, 24, 28, 32, 36, 40, 48}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46904" y="1380744"/>
            <a:ext cx="31089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94376" y="1024128"/>
            <a:ext cx="2011680" cy="93268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A202C"/>
                </a:solidFill>
                <a:latin typeface="맑은 고딕"/>
              </a:rPr>
              <a:t>③ sliding window NCC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cv2.matchTemplate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TM_CCOEFF_NORMED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= window별 z 정규화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42631" y="1380744"/>
            <a:ext cx="31089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90104" y="1024128"/>
            <a:ext cx="2011680" cy="932688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A202C"/>
                </a:solidFill>
                <a:latin typeface="맑은 고딕"/>
              </a:rPr>
              <a:t>④ 스케일 합성 + NMS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픽셀별 최대 응답 합성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피크 추출 → 상위 200개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38359" y="1380744"/>
            <a:ext cx="31089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85832" y="1024128"/>
            <a:ext cx="2011680" cy="932688"/>
          </a:xfrm>
          <a:prstGeom prst="roundRect">
            <a:avLst>
              <a:gd name="adj" fmla="val 12000"/>
            </a:avLst>
          </a:prstGeom>
          <a:solidFill>
            <a:srgbClr val="FDEBD8"/>
          </a:solidFill>
          <a:ln w="15875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1A202C"/>
                </a:solidFill>
                <a:latin typeface="맑은 고딕"/>
              </a:rPr>
              <a:t>⑤ 링 게이트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GT 실측 임계로 필터</a:t>
            </a:r>
          </a:p>
          <a:p>
            <a:pPr algn="ctr"/>
            <a:r>
              <a:rPr sz="850">
                <a:solidFill>
                  <a:srgbClr val="5A6780"/>
                </a:solidFill>
                <a:latin typeface="맑은 고딕"/>
              </a:rPr>
              <a:t>200개 → 이미지당 25개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128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202C"/>
                </a:solidFill>
                <a:latin typeface="맑은 고딕"/>
              </a:rPr>
              <a:t>링 게이트 조건 (GT 2194개 실측 분포에서 고정)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05456"/>
            <a:ext cx="3611880" cy="16642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3000" bIns="45000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B6CB0"/>
                </a:solidFill>
                <a:latin typeface="맑은 고딕"/>
              </a:rPr>
              <a:t>통과 조건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ring_z ≥ 0.31            링이 주변보다 밝은가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contrast ≥ 0.38        링 − 코어 대비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ring_min ≥ −1.11      16섹터 각도 완전성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ring_sat ≤ 100         링 = 금속 (초록 기판 배제)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ring_val ≤ 195         과노출 백색 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1284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202C"/>
                </a:solidFill>
                <a:latin typeface="맑은 고딕"/>
              </a:rPr>
              <a:t>게이트 ablation (mh_board val 292장 / GT 636)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389120" y="2505456"/>
          <a:ext cx="4160520" cy="132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658368"/>
                <a:gridCol w="713232"/>
                <a:gridCol w="713232"/>
                <a:gridCol w="475488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cand/img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recall@10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recall@50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rank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게이트 없음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67.5%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92.6%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9C4A0E"/>
                          </a:solidFill>
                          <a:latin typeface="맑은 고딕"/>
                        </a:rPr>
                        <a:t>ring gate (채택)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C4A0E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C4A0E"/>
                          </a:solidFill>
                          <a:latin typeface="맑은 고딕"/>
                        </a:rPr>
                        <a:t>82.1%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C4A0E"/>
                          </a:solidFill>
                          <a:latin typeface="맑은 고딕"/>
                        </a:rPr>
                        <a:t>90.9%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C4A0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ring + spec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76.7%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85.2%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ring + spec + grid-cap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77.0%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84.0%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869680" y="221284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202C"/>
                </a:solidFill>
                <a:latin typeface="맑은 고딕"/>
              </a:rPr>
              <a:t>게이트 없는 원 탐색 recall@K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869680" y="2505456"/>
          <a:ext cx="2816352" cy="1664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901952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K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31.1%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62.7%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67.5%  ← 원안 Top-10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83.8%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9C4A0E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C4A0E"/>
                          </a:solidFill>
                          <a:latin typeface="맑은 고딕"/>
                        </a:rPr>
                        <a:t>92.6%  ← 채택 구간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02C"/>
                          </a:solidFill>
                          <a:latin typeface="맑은 고딕"/>
                        </a:rPr>
                        <a:t>95.8%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02920" y="431596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3000" bIns="45000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B6CB0"/>
                </a:solidFill>
                <a:latin typeface="맑은 고딕"/>
              </a:rPr>
              <a:t>stage A / stage B 분리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stage A  링 게이트만 — 탐지 성능·ablation 용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stage B  링 + spec + grid-cap — step4 삽입 후보 용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9C4A0E"/>
                </a:solidFill>
                <a:latin typeface="맑은 고딕"/>
              </a:rPr>
              <a:t>✗ stage A에 spec 게이트 금지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   step3(정반사)의 기여도 측정이 오염된다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315968"/>
            <a:ext cx="4160520" cy="17556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05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3000" bIns="45000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C05321"/>
                </a:solidFill>
                <a:latin typeface="맑은 고딕"/>
              </a:rPr>
              <a:t>기각된 판별자 (재시도 금지)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9C4A0E"/>
                </a:solidFill>
                <a:latin typeface="맑은 고딕"/>
              </a:rPr>
              <a:t>✗ 회전대칭 s90 / s180 — GT median 0.34 &lt; FP 0.4~0.78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   글자 글리프가 이 스케일에선 오히려 더 대칭적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9C4A0E"/>
                </a:solidFill>
                <a:latin typeface="맑은 고딕"/>
              </a:rPr>
              <a:t>✗ ring_sat 단독 실크스크린 판별 — 흰 페인트도 저채도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9C4A0E"/>
                </a:solidFill>
                <a:latin typeface="맑은 고딕"/>
              </a:rPr>
              <a:t>✗ min-distance max(40px, 2.0·s) — 붙은 GT까지 삭제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   recall@50 92.6% → 84.1% → grid-cap(100px 셀당 2개)로 교체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4315968"/>
            <a:ext cx="2816352" cy="175564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05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3000" bIns="45000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C05321"/>
                </a:solidFill>
                <a:latin typeface="맑은 고딕"/>
              </a:rPr>
              <a:t>지표·오검출 주의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AUC 0.981 = 무작위 배경 대비 (무의미)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AUC 0.703 = 정상 pad hard negative 대비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→ 두 수치 혼용 인용 금지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오검출 3종: 실크스크린 글자(o, e, P),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pad 사이 틈, 국소 공간 쏠림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19963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원안 MSE → 정규화 상호상관(NCC) 교체 근거: 조명 10종으로 crop 평균 밝기 편차 14.6 grey level. raw MSE는 조명 차이가 패턴 차이를 압도한다 (설명력 R² raw 0.269 → crop별 z 정규화 0.398).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6780"/>
                </a:solidFill>
                <a:latin typeface="맑은 고딕"/>
              </a:rPr>
              <a:t>템플릿 D_mean은 mh_board train(1212장 / 2328 crop)만으로 생성한다. val·test 누출 금지.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202C"/>
                </a:solidFill>
                <a:latin typeface="맑은 고딕"/>
              </a:rPr>
              <a:t>비교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035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780"/>
                </a:solidFill>
                <a:latin typeface="맑은 고딕"/>
              </a:rPr>
              <a:t>원안 3군(Baseline / Random CP / Proposed) → 정본 5군 × split 2종 = 데이터셋 10종. 삽입 위치만 다르고 결함 렌더링·삽입 시도 수는 전 arm 동일하다.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실험군 정의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61872"/>
          <a:ext cx="11183112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4160520"/>
                <a:gridCol w="960120"/>
                <a:gridCol w="1170432"/>
                <a:gridCol w="3566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실험군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삽입 위치 결정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spec 게이트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합성 box(board)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원안 대응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baseline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증강 없음 — 실제 결함만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Baseline (Original Dataset)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random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균등 무작위, 크기는 GT 분포에서 추출, 겹침만 회피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2176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Random CP (대조군)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brightness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stage-A NCC + 링 게이트 + grid cap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1884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원안 Step 4~5 (밝기까지만)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context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brightness top-20 → context 유사도 재정렬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2215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원안 Proposed → 기각, negative result로 유지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brightspec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z(ncc) + 1.5·z(spec) — 정반사 재질 증거 결합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적용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1997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정본 제안 방법 (원안 Context를 대체)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2186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데이터셋 10종 (split 2종 × 5군)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93008"/>
            <a:ext cx="3611880" cy="188366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3000" bIns="45000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B6CB0"/>
                </a:solidFill>
                <a:latin typeface="맑은 고딕"/>
              </a:rPr>
              <a:t>split 2종을 항상 병기한다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mh_board   보드 단위 분리 — leakage 0 / 82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                 보수적 추정. test 보드 2장뿐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mh_orig     공개 split 유지 — board+light+tile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                 163/163 누출. 비교용으로만 인용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각 split × {baseline, random, brightness,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context, brightspec} = 10개 데이터셋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data.yaml 단일 클래스 0: missing_hole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18688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train box 예산 (mh_board, 실측)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0" y="3493008"/>
          <a:ext cx="41605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777240"/>
                <a:gridCol w="86868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실제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합성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36000" marR="36000" marT="0" marB="0" anchor="ctr">
                    <a:solidFill>
                      <a:srgbClr val="2D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mh_board (baseline)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2328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2328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  + randomcp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2328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2176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4504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  + brightnesscp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2328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1884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4212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  + contextcp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2328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2215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2C"/>
                          </a:solidFill>
                          <a:latin typeface="맑은 고딕"/>
                        </a:rPr>
                        <a:t>4543</a:t>
                      </a:r>
                    </a:p>
                  </a:txBody>
                  <a:tcPr marL="36000" marR="36000" marT="0" marB="0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  + brightspeccp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2328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1997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C4A0E"/>
                          </a:solidFill>
                          <a:latin typeface="맑은 고딕"/>
                        </a:rPr>
                        <a:t>4325</a:t>
                      </a:r>
                    </a:p>
                  </a:txBody>
                  <a:tcPr marL="36000" marR="36000" marT="0" marB="0" anchor="ctr">
                    <a:solidFill>
                      <a:srgbClr val="FDEBD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5230368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A6780"/>
                </a:solidFill>
                <a:latin typeface="맑은 고딕"/>
              </a:rPr>
              <a:t>삽입 시도는 전 arm 2회/이미지로 동일. 유도 방식은 게이트 탈락분을 거부해 실현 수가 적다.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2186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02C"/>
                </a:solidFill>
                <a:latin typeface="맑은 고딕"/>
              </a:rPr>
              <a:t>통제 조건 (교란변수 차단)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493008"/>
            <a:ext cx="2816352" cy="188366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3000" bIns="45000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B6CB0"/>
                </a:solidFill>
                <a:latin typeface="맑은 고딕"/>
              </a:rPr>
              <a:t>전 arm 공통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삽입 시도 2회 / 이미지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seed 0 (synthesis_meta.json 기록값)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동일 후보 pool을 정렬만 달리함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  → 차이는 순위 전략에서만 발생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val / test 라벨 SHA256 전 arm 동일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합성 QC: 유도 3종 채도 MAD 19~22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  (서로 2.6 이내 = 렌더링 품질 동일)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59552"/>
            <a:ext cx="11183112" cy="10058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05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3000" bIns="45000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C05321"/>
                </a:solidFill>
                <a:latin typeface="맑은 고딕"/>
              </a:rPr>
              <a:t>결과 해석 규칙 (사전 고정 — exp_yolo_execute.md)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지표는 mAP50과 baseline 대비 Δ. random은 brightspec보다 합성 box가 board +9.0%(2176 vs 1997), orig +11.0%(2682 vs 2417), brightness 대비로는 +15.5% / +17.9% 많다 → 데이터 양 반론을 원천 봉쇄한다.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A202C"/>
                </a:solidFill>
                <a:latin typeface="맑은 고딕"/>
              </a:rPr>
              <a:t>mh_board test는 보드 2장뿐이므로 절대값 단독 해석 금지, Δ와 시드 분산을 함께 본다. 게이트 임계·λ_spec 1.5·n_insert 2·seed·epochs는 결과를 본 뒤 변경하지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