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72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dirty="0" err="1">
                <a:solidFill>
                  <a:srgbClr val="1A202C"/>
                </a:solidFill>
                <a:latin typeface="맑은 고딕"/>
              </a:rPr>
              <a:t>전체</a:t>
            </a:r>
            <a:r>
              <a:rPr sz="260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A202C"/>
                </a:solidFill>
                <a:latin typeface="맑은 고딕"/>
              </a:rPr>
              <a:t>연구</a:t>
            </a:r>
            <a:r>
              <a:rPr sz="260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A202C"/>
                </a:solidFill>
                <a:latin typeface="맑은 고딕"/>
              </a:rPr>
              <a:t>흐름</a:t>
            </a:r>
            <a:endParaRPr sz="2600" b="1" dirty="0">
              <a:solidFill>
                <a:srgbClr val="1A202C"/>
              </a:solidFill>
              <a:latin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941832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2D3A4A"/>
          </a:solidFill>
          <a:ln w="15875">
            <a:solidFill>
              <a:srgbClr val="2D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50" b="1" dirty="0" err="1">
                <a:solidFill>
                  <a:srgbClr val="FFFFFF"/>
                </a:solidFill>
                <a:latin typeface="맑은 고딕"/>
              </a:rPr>
              <a:t>원본</a:t>
            </a:r>
            <a:r>
              <a:rPr sz="1250" b="1" dirty="0">
                <a:solidFill>
                  <a:srgbClr val="FFFFFF"/>
                </a:solidFill>
                <a:latin typeface="맑은 고딕"/>
              </a:rPr>
              <a:t> PCB </a:t>
            </a:r>
            <a:r>
              <a:rPr sz="1250" b="1" dirty="0" err="1">
                <a:solidFill>
                  <a:srgbClr val="FFFFFF"/>
                </a:solidFill>
                <a:latin typeface="맑은 고딕"/>
              </a:rPr>
              <a:t>데이터셋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/>
            <a:r>
              <a:rPr sz="1000" dirty="0">
                <a:solidFill>
                  <a:srgbClr val="FFFFFF"/>
                </a:solidFill>
                <a:latin typeface="맑은 고딕"/>
              </a:rPr>
              <a:t>   </a:t>
            </a:r>
            <a:r>
              <a:rPr sz="1000" dirty="0" err="1">
                <a:solidFill>
                  <a:srgbClr val="FFFFFF"/>
                </a:solidFill>
                <a:latin typeface="맑은 고딕"/>
              </a:rPr>
              <a:t>missing_hole</a:t>
            </a:r>
            <a:r>
              <a:rPr sz="1000" dirty="0">
                <a:solidFill>
                  <a:srgbClr val="FFFFFF"/>
                </a:solidFill>
                <a:latin typeface="맑은 고딕"/>
              </a:rPr>
              <a:t> 1832장 · box 3612개  </a:t>
            </a:r>
          </a:p>
        </p:txBody>
      </p:sp>
      <p:sp>
        <p:nvSpPr>
          <p:cNvPr id="5" name="Down Arrow 4"/>
          <p:cNvSpPr/>
          <p:nvPr/>
        </p:nvSpPr>
        <p:spPr>
          <a:xfrm>
            <a:off x="1691640" y="1453896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own Arrow 5"/>
          <p:cNvSpPr/>
          <p:nvPr/>
        </p:nvSpPr>
        <p:spPr>
          <a:xfrm>
            <a:off x="5943599" y="1453896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44752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step1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2651760" cy="384048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 dirty="0" err="1">
                <a:solidFill>
                  <a:srgbClr val="1A202C"/>
                </a:solidFill>
                <a:latin typeface="맑은 고딕"/>
              </a:rPr>
              <a:t>결함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이미지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(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missing_hole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)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91640" y="2121408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2359152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 dirty="0" err="1">
                <a:solidFill>
                  <a:srgbClr val="1A202C"/>
                </a:solidFill>
                <a:latin typeface="맑은 고딕"/>
              </a:rPr>
              <a:t>결함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영역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추출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·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크기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정규화</a:t>
            </a:r>
            <a:endParaRPr sz="1150" b="1" dirty="0">
              <a:solidFill>
                <a:srgbClr val="1A202C"/>
              </a:solidFill>
              <a:latin typeface="맑은 고딕"/>
            </a:endParaRPr>
          </a:p>
          <a:p>
            <a:pPr algn="ctr"/>
            <a:r>
              <a:rPr sz="950" dirty="0">
                <a:solidFill>
                  <a:srgbClr val="5A6780"/>
                </a:solidFill>
                <a:latin typeface="맑은 고딕"/>
              </a:rPr>
              <a:t>32×32 </a:t>
            </a:r>
            <a:r>
              <a:rPr sz="950" dirty="0" err="1" smtClean="0">
                <a:solidFill>
                  <a:srgbClr val="5A6780"/>
                </a:solidFill>
                <a:latin typeface="맑은 고딕"/>
              </a:rPr>
              <a:t>리사이즈</a:t>
            </a:r>
            <a:endParaRPr sz="950" dirty="0">
              <a:solidFill>
                <a:srgbClr val="5A6780"/>
              </a:solidFill>
              <a:latin typeface="맑은 고딕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1691640" y="2971800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3209544"/>
            <a:ext cx="2651760" cy="603504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 dirty="0" err="1">
                <a:solidFill>
                  <a:srgbClr val="1A202C"/>
                </a:solidFill>
                <a:latin typeface="맑은 고딕"/>
              </a:rPr>
              <a:t>공통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밝기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패턴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 smtClean="0">
                <a:solidFill>
                  <a:srgbClr val="1A202C"/>
                </a:solidFill>
                <a:latin typeface="맑은 고딕"/>
              </a:rPr>
              <a:t>D_mean</a:t>
            </a:r>
            <a:endParaRPr sz="1150" b="1" dirty="0">
              <a:solidFill>
                <a:srgbClr val="1A202C"/>
              </a:solidFill>
              <a:latin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정상 PCB 이미지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599" y="2121408"/>
            <a:ext cx="274320" cy="102412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34840" y="2916936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209544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00" b="1" dirty="0" err="1" smtClean="0">
                <a:solidFill>
                  <a:srgbClr val="1A202C"/>
                </a:solidFill>
                <a:latin typeface="맑은 고딕"/>
              </a:rPr>
              <a:t>후보</a:t>
            </a:r>
            <a:r>
              <a:rPr sz="1200" b="1" dirty="0" smtClean="0">
                <a:solidFill>
                  <a:srgbClr val="1A202C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A202C"/>
                </a:solidFill>
                <a:latin typeface="맑은 고딕"/>
              </a:rPr>
              <a:t>탐색</a:t>
            </a:r>
            <a:r>
              <a:rPr sz="1200" b="1" dirty="0">
                <a:solidFill>
                  <a:srgbClr val="1A202C"/>
                </a:solidFill>
                <a:latin typeface="맑은 고딕"/>
              </a:rPr>
              <a:t> + 링 </a:t>
            </a:r>
            <a:r>
              <a:rPr sz="1200" b="1" dirty="0" err="1" smtClean="0">
                <a:solidFill>
                  <a:srgbClr val="1A202C"/>
                </a:solidFill>
                <a:latin typeface="맑은 고딕"/>
              </a:rPr>
              <a:t>게이트</a:t>
            </a:r>
            <a:endParaRPr sz="1200" b="1" dirty="0">
              <a:solidFill>
                <a:srgbClr val="1A202C"/>
              </a:solidFill>
              <a:latin typeface="맑은 고딕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3246120" y="3401568"/>
            <a:ext cx="1115568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5943599" y="3858768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34840" y="4096512"/>
            <a:ext cx="3291840" cy="475488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00" b="1" dirty="0" err="1">
                <a:solidFill>
                  <a:srgbClr val="1A202C"/>
                </a:solidFill>
                <a:latin typeface="맑은 고딕"/>
              </a:rPr>
              <a:t>후보</a:t>
            </a:r>
            <a:r>
              <a:rPr sz="120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A202C"/>
                </a:solidFill>
                <a:latin typeface="맑은 고딕"/>
              </a:rPr>
              <a:t>위치</a:t>
            </a:r>
            <a:r>
              <a:rPr sz="120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lang="ko-KR" altLang="en-US" sz="1200" b="1" dirty="0" smtClean="0">
                <a:solidFill>
                  <a:srgbClr val="1A202C"/>
                </a:solidFill>
                <a:latin typeface="맑은 고딕"/>
              </a:rPr>
              <a:t>선정</a:t>
            </a:r>
            <a:endParaRPr sz="1200" b="1" dirty="0" smtClean="0">
              <a:solidFill>
                <a:srgbClr val="1A202C"/>
              </a:solidFill>
              <a:latin typeface="맑은 고딕"/>
            </a:endParaRPr>
          </a:p>
          <a:p>
            <a:pPr algn="ctr"/>
            <a:r>
              <a:rPr sz="950" dirty="0" err="1" smtClean="0">
                <a:solidFill>
                  <a:srgbClr val="5A6780"/>
                </a:solidFill>
                <a:latin typeface="맑은 고딕"/>
              </a:rPr>
              <a:t>이미지당</a:t>
            </a:r>
            <a:r>
              <a:rPr sz="950" dirty="0" smtClean="0">
                <a:solidFill>
                  <a:srgbClr val="5A6780"/>
                </a:solidFill>
                <a:latin typeface="맑은 고딕"/>
              </a:rPr>
              <a:t> 200 → 25개 (</a:t>
            </a:r>
            <a:r>
              <a:rPr sz="950" dirty="0" err="1" smtClean="0">
                <a:solidFill>
                  <a:srgbClr val="5A6780"/>
                </a:solidFill>
                <a:latin typeface="맑은 고딕"/>
              </a:rPr>
              <a:t>게이트</a:t>
            </a:r>
            <a:r>
              <a:rPr sz="950" dirty="0" smtClean="0">
                <a:solidFill>
                  <a:srgbClr val="5A6780"/>
                </a:solidFill>
                <a:latin typeface="맑은 고딕"/>
              </a:rPr>
              <a:t> </a:t>
            </a:r>
            <a:r>
              <a:rPr sz="950" dirty="0" err="1" smtClean="0">
                <a:solidFill>
                  <a:srgbClr val="5A6780"/>
                </a:solidFill>
                <a:latin typeface="맑은 고딕"/>
              </a:rPr>
              <a:t>통과분</a:t>
            </a:r>
            <a:r>
              <a:rPr sz="950" dirty="0" smtClean="0">
                <a:solidFill>
                  <a:srgbClr val="5A6780"/>
                </a:solidFill>
                <a:latin typeface="맑은 고딕"/>
              </a:rPr>
              <a:t>)</a:t>
            </a:r>
            <a:endParaRPr sz="950" dirty="0">
              <a:solidFill>
                <a:srgbClr val="5A6780"/>
              </a:solidFill>
              <a:latin typeface="맑은 고딕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5943599" y="4617720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566159" y="4974336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step3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855464"/>
            <a:ext cx="3291840" cy="475488"/>
          </a:xfrm>
          <a:prstGeom prst="roundRect">
            <a:avLst>
              <a:gd name="adj" fmla="val 12000"/>
            </a:avLst>
          </a:prstGeom>
          <a:solidFill>
            <a:srgbClr val="FDEBD8"/>
          </a:solidFill>
          <a:ln w="15875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lang="ko-KR" altLang="en-US" sz="1200" b="1" dirty="0" smtClean="0">
                <a:solidFill>
                  <a:srgbClr val="1A202C"/>
                </a:solidFill>
                <a:latin typeface="맑은 고딕"/>
              </a:rPr>
              <a:t>결함 이식 </a:t>
            </a:r>
            <a:r>
              <a:rPr lang="ko-KR" altLang="en-US" sz="1200" b="1" dirty="0">
                <a:solidFill>
                  <a:srgbClr val="1A202C"/>
                </a:solidFill>
                <a:latin typeface="맑은 고딕"/>
              </a:rPr>
              <a:t>합성</a:t>
            </a:r>
            <a:endParaRPr sz="950" dirty="0">
              <a:solidFill>
                <a:srgbClr val="5A6780"/>
              </a:solidFill>
              <a:latin typeface="맑은 고딕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5943599" y="5376672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46320" y="5755495"/>
            <a:ext cx="2194560" cy="411480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 dirty="0" err="1">
                <a:solidFill>
                  <a:srgbClr val="1A202C"/>
                </a:solidFill>
                <a:latin typeface="맑은 고딕"/>
              </a:rPr>
              <a:t>합성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데이터셋</a:t>
            </a:r>
            <a:endParaRPr sz="1150" b="1" dirty="0">
              <a:solidFill>
                <a:srgbClr val="1A202C"/>
              </a:solidFill>
              <a:latin typeface="맑은 고딕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7104888" y="5856079"/>
            <a:ext cx="301752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995928" y="5837791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exp_yolo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5755495"/>
            <a:ext cx="2011680" cy="41148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YOLO 학습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528048" y="5856079"/>
            <a:ext cx="301752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75520" y="5755495"/>
            <a:ext cx="2194560" cy="411480"/>
          </a:xfrm>
          <a:prstGeom prst="roundRect">
            <a:avLst>
              <a:gd name="adj" fmla="val 12000"/>
            </a:avLst>
          </a:prstGeom>
          <a:solidFill>
            <a:srgbClr val="E2F2E6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성능 평가 (mAP50, Δ)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069080"/>
            <a:ext cx="288036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dirty="0" err="1">
                <a:solidFill>
                  <a:srgbClr val="1A202C"/>
                </a:solidFill>
                <a:latin typeface="맑은 고딕"/>
              </a:rPr>
              <a:t>비교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202C"/>
                </a:solidFill>
                <a:latin typeface="맑은 고딕"/>
              </a:rPr>
              <a:t>실험군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lang="en-US" sz="1050" b="1" dirty="0" smtClean="0">
                <a:solidFill>
                  <a:srgbClr val="1A202C"/>
                </a:solidFill>
                <a:latin typeface="맑은 고딕"/>
              </a:rPr>
              <a:t>3</a:t>
            </a:r>
            <a:r>
              <a:rPr sz="1050" b="1" dirty="0" smtClean="0">
                <a:solidFill>
                  <a:srgbClr val="1A202C"/>
                </a:solidFill>
                <a:latin typeface="맑은 고딕"/>
              </a:rPr>
              <a:t>종 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(</a:t>
            </a:r>
            <a:r>
              <a:rPr sz="1050" b="1" dirty="0" err="1">
                <a:solidFill>
                  <a:srgbClr val="1A202C"/>
                </a:solidFill>
                <a:latin typeface="맑은 고딕"/>
              </a:rPr>
              <a:t>삽입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202C"/>
                </a:solidFill>
                <a:latin typeface="맑은 고딕"/>
              </a:rPr>
              <a:t>위치만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202C"/>
                </a:solidFill>
                <a:latin typeface="맑은 고딕"/>
              </a:rPr>
              <a:t>다름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370832"/>
            <a:ext cx="2880360" cy="489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5A6780"/>
                </a:solidFill>
                <a:latin typeface="맑은 고딕"/>
              </a:rPr>
              <a:t>random         </a:t>
            </a:r>
            <a:r>
              <a:rPr sz="950" b="0" dirty="0" err="1">
                <a:solidFill>
                  <a:srgbClr val="5A6780"/>
                </a:solidFill>
                <a:latin typeface="맑은 고딕"/>
              </a:rPr>
              <a:t>균등</a:t>
            </a:r>
            <a:r>
              <a:rPr sz="950" b="0" dirty="0">
                <a:solidFill>
                  <a:srgbClr val="5A6780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5A6780"/>
                </a:solidFill>
                <a:latin typeface="맑은 고딕"/>
              </a:rPr>
              <a:t>무작위</a:t>
            </a:r>
            <a:r>
              <a:rPr sz="950" b="0" dirty="0">
                <a:solidFill>
                  <a:srgbClr val="5A6780"/>
                </a:solidFill>
                <a:latin typeface="맑은 고딕"/>
              </a:rPr>
              <a:t> </a:t>
            </a:r>
            <a:r>
              <a:rPr sz="950" b="0" dirty="0" smtClean="0">
                <a:solidFill>
                  <a:srgbClr val="5A6780"/>
                </a:solidFill>
                <a:latin typeface="맑은 고딕"/>
              </a:rPr>
              <a:t>(</a:t>
            </a:r>
            <a:r>
              <a:rPr sz="950" b="0" dirty="0" err="1" smtClean="0">
                <a:solidFill>
                  <a:srgbClr val="5A6780"/>
                </a:solidFill>
                <a:latin typeface="맑은 고딕"/>
              </a:rPr>
              <a:t>대조군</a:t>
            </a:r>
            <a:r>
              <a:rPr sz="950" b="0" dirty="0" smtClean="0">
                <a:solidFill>
                  <a:srgbClr val="5A6780"/>
                </a:solidFill>
                <a:latin typeface="맑은 고딕"/>
              </a:rPr>
              <a:t>)</a:t>
            </a:r>
            <a:endParaRPr lang="en-US" sz="950" b="0" dirty="0" smtClean="0">
              <a:solidFill>
                <a:srgbClr val="5A6780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lang="en-US" sz="950" dirty="0" err="1" smtClean="0">
                <a:solidFill>
                  <a:srgbClr val="5A6780"/>
                </a:solidFill>
                <a:latin typeface="맑은 고딕"/>
              </a:rPr>
              <a:t>copy_paste</a:t>
            </a:r>
            <a:r>
              <a:rPr lang="en-US" sz="950" dirty="0" smtClean="0">
                <a:solidFill>
                  <a:srgbClr val="5A6780"/>
                </a:solidFill>
                <a:latin typeface="맑은 고딕"/>
              </a:rPr>
              <a:t>     </a:t>
            </a:r>
            <a:r>
              <a:rPr lang="ko-KR" altLang="en-US" sz="950" dirty="0" smtClean="0">
                <a:solidFill>
                  <a:srgbClr val="5A6780"/>
                </a:solidFill>
                <a:latin typeface="맑은 고딕"/>
              </a:rPr>
              <a:t>이전 연구내용</a:t>
            </a:r>
            <a:endParaRPr sz="950" b="0" dirty="0" smtClean="0">
              <a:solidFill>
                <a:srgbClr val="5A6780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lang="ko-KR" altLang="en-US" sz="950" b="0" dirty="0" err="1" smtClean="0">
                <a:solidFill>
                  <a:srgbClr val="5A6780"/>
                </a:solidFill>
                <a:latin typeface="맑은 고딕"/>
              </a:rPr>
              <a:t>양불판정연구</a:t>
            </a:r>
            <a:r>
              <a:rPr sz="950" b="0" dirty="0" smtClean="0">
                <a:solidFill>
                  <a:srgbClr val="5A6780"/>
                </a:solidFill>
                <a:latin typeface="맑은 고딕"/>
              </a:rPr>
              <a:t>    </a:t>
            </a:r>
            <a:r>
              <a:rPr sz="950" b="0" dirty="0" err="1">
                <a:solidFill>
                  <a:srgbClr val="5A6780"/>
                </a:solidFill>
                <a:latin typeface="맑은 고딕"/>
              </a:rPr>
              <a:t>밝기</a:t>
            </a:r>
            <a:r>
              <a:rPr sz="950" b="0" dirty="0">
                <a:solidFill>
                  <a:srgbClr val="5A6780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5A6780"/>
                </a:solidFill>
                <a:latin typeface="맑은 고딕"/>
              </a:rPr>
              <a:t>탐색</a:t>
            </a:r>
            <a:r>
              <a:rPr sz="950" b="0" dirty="0">
                <a:solidFill>
                  <a:srgbClr val="5A6780"/>
                </a:solidFill>
                <a:latin typeface="맑은 고딕"/>
              </a:rPr>
              <a:t> + 링 </a:t>
            </a:r>
            <a:r>
              <a:rPr sz="950" b="0" dirty="0" err="1" smtClean="0">
                <a:solidFill>
                  <a:srgbClr val="5A6780"/>
                </a:solidFill>
                <a:latin typeface="맑은 고딕"/>
              </a:rPr>
              <a:t>게이트</a:t>
            </a:r>
            <a:endParaRPr sz="950" b="0" dirty="0">
              <a:solidFill>
                <a:srgbClr val="5A678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000" y="1081510"/>
            <a:ext cx="5428638" cy="54286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0" y="-1"/>
            <a:ext cx="1580322" cy="745435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맑은 고딕"/>
              </a:rPr>
              <a:t>step1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4493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결함 영역 </a:t>
            </a:r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추출 </a:t>
            </a:r>
            <a:r>
              <a:rPr lang="en-US" altLang="ko-KR" sz="2800" b="1" dirty="0" smtClean="0">
                <a:solidFill>
                  <a:srgbClr val="1A202C"/>
                </a:solidFill>
                <a:latin typeface="맑은 고딕"/>
              </a:rPr>
              <a:t>&amp; </a:t>
            </a:r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공통 특징 분석</a:t>
            </a:r>
            <a:endParaRPr sz="2600" b="1" dirty="0">
              <a:solidFill>
                <a:srgbClr val="1A202C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45540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018" y="4459338"/>
            <a:ext cx="7195982" cy="239866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026673" y="1777006"/>
            <a:ext cx="4483509" cy="19172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5"/>
          <p:cNvSpPr/>
          <p:nvPr/>
        </p:nvSpPr>
        <p:spPr>
          <a:xfrm>
            <a:off x="1026673" y="1777963"/>
            <a:ext cx="353961" cy="368855"/>
          </a:xfrm>
          <a:prstGeom prst="rect">
            <a:avLst/>
          </a:prstGeom>
          <a:noFill/>
          <a:ln w="41275">
            <a:solidFill>
              <a:srgbClr val="FF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Arrow 51"/>
          <p:cNvSpPr/>
          <p:nvPr/>
        </p:nvSpPr>
        <p:spPr>
          <a:xfrm>
            <a:off x="1491132" y="1852662"/>
            <a:ext cx="217302" cy="219456"/>
          </a:xfrm>
          <a:prstGeom prst="rightArrow">
            <a:avLst/>
          </a:prstGeom>
          <a:solidFill>
            <a:srgbClr val="94A3B8"/>
          </a:solidFill>
          <a:ln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6"/>
          <p:cNvSpPr/>
          <p:nvPr/>
        </p:nvSpPr>
        <p:spPr>
          <a:xfrm>
            <a:off x="0" y="-1"/>
            <a:ext cx="1580322" cy="745435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 smtClean="0">
                <a:solidFill>
                  <a:srgbClr val="FFFFFF"/>
                </a:solidFill>
                <a:latin typeface="맑은 고딕"/>
              </a:rPr>
              <a:t>step</a:t>
            </a:r>
            <a:r>
              <a:rPr lang="en-US" sz="2000" b="1" dirty="0" smtClean="0">
                <a:solidFill>
                  <a:srgbClr val="FFFFFF"/>
                </a:solidFill>
                <a:latin typeface="맑은 고딕"/>
              </a:rPr>
              <a:t>2</a:t>
            </a:r>
            <a:endParaRPr sz="2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44493" y="182880"/>
            <a:ext cx="8229600" cy="11695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후보 </a:t>
            </a:r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탐색 </a:t>
            </a:r>
            <a:r>
              <a:rPr lang="en-US" altLang="ko-KR" sz="2800" b="1" dirty="0">
                <a:solidFill>
                  <a:srgbClr val="1A202C"/>
                </a:solidFill>
                <a:latin typeface="맑은 고딕"/>
              </a:rPr>
              <a:t>+ </a:t>
            </a:r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링 </a:t>
            </a:r>
            <a:r>
              <a:rPr lang="ko-KR" altLang="en-US" sz="2800" b="1" dirty="0" err="1" smtClean="0">
                <a:solidFill>
                  <a:srgbClr val="1A202C"/>
                </a:solidFill>
                <a:latin typeface="맑은 고딕"/>
              </a:rPr>
              <a:t>게이트</a:t>
            </a:r>
            <a:r>
              <a:rPr lang="en-US" altLang="ko-KR" sz="2800" b="1" dirty="0" smtClean="0">
                <a:solidFill>
                  <a:srgbClr val="1A202C"/>
                </a:solidFill>
                <a:latin typeface="맑은 고딕"/>
              </a:rPr>
              <a:t/>
            </a:r>
            <a:br>
              <a:rPr lang="en-US" altLang="ko-KR" sz="2800" b="1" dirty="0" smtClean="0">
                <a:solidFill>
                  <a:srgbClr val="1A202C"/>
                </a:solidFill>
                <a:latin typeface="맑은 고딕"/>
              </a:rPr>
            </a:br>
            <a:r>
              <a:rPr lang="en-US" altLang="ko-KR" sz="2000" dirty="0"/>
              <a:t>32 × </a:t>
            </a:r>
            <a:r>
              <a:rPr lang="en-US" altLang="ko-KR" sz="2000" dirty="0" smtClean="0"/>
              <a:t>32 </a:t>
            </a:r>
            <a:r>
              <a:rPr lang="ko-KR" altLang="en-US" sz="2000" dirty="0" smtClean="0"/>
              <a:t>영역 탐색</a:t>
            </a:r>
            <a:endParaRPr lang="en-US" altLang="ko-KR" sz="2000" dirty="0"/>
          </a:p>
          <a:p>
            <a:endParaRPr lang="ko-KR" altLang="en-US" sz="2800" b="1" dirty="0">
              <a:solidFill>
                <a:srgbClr val="1A202C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8429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107360" y="1634350"/>
            <a:ext cx="4483509" cy="19172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5"/>
          <p:cNvSpPr/>
          <p:nvPr/>
        </p:nvSpPr>
        <p:spPr>
          <a:xfrm>
            <a:off x="2154496" y="1819734"/>
            <a:ext cx="353961" cy="368855"/>
          </a:xfrm>
          <a:prstGeom prst="rect">
            <a:avLst/>
          </a:prstGeom>
          <a:noFill/>
          <a:ln w="41275">
            <a:solidFill>
              <a:srgbClr val="FFFF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239" y="4479413"/>
            <a:ext cx="7135761" cy="2378587"/>
          </a:xfrm>
          <a:prstGeom prst="rect">
            <a:avLst/>
          </a:prstGeom>
        </p:spPr>
      </p:pic>
      <p:sp>
        <p:nvSpPr>
          <p:cNvPr id="9" name="Rectangle 45"/>
          <p:cNvSpPr/>
          <p:nvPr/>
        </p:nvSpPr>
        <p:spPr>
          <a:xfrm>
            <a:off x="2331476" y="2685687"/>
            <a:ext cx="393290" cy="368855"/>
          </a:xfrm>
          <a:prstGeom prst="rect">
            <a:avLst/>
          </a:prstGeom>
          <a:noFill/>
          <a:ln w="41275">
            <a:solidFill>
              <a:srgbClr val="FFFF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45"/>
          <p:cNvSpPr/>
          <p:nvPr/>
        </p:nvSpPr>
        <p:spPr>
          <a:xfrm>
            <a:off x="3349114" y="2111892"/>
            <a:ext cx="393290" cy="368855"/>
          </a:xfrm>
          <a:prstGeom prst="rect">
            <a:avLst/>
          </a:prstGeom>
          <a:noFill/>
          <a:ln w="41275">
            <a:solidFill>
              <a:srgbClr val="FFFF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45"/>
          <p:cNvSpPr/>
          <p:nvPr/>
        </p:nvSpPr>
        <p:spPr>
          <a:xfrm>
            <a:off x="4165191" y="2690034"/>
            <a:ext cx="393290" cy="368855"/>
          </a:xfrm>
          <a:prstGeom prst="rect">
            <a:avLst/>
          </a:prstGeom>
          <a:noFill/>
          <a:ln w="41275">
            <a:solidFill>
              <a:srgbClr val="FFFF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5"/>
          <p:cNvSpPr/>
          <p:nvPr/>
        </p:nvSpPr>
        <p:spPr>
          <a:xfrm>
            <a:off x="4662949" y="1927464"/>
            <a:ext cx="393290" cy="368855"/>
          </a:xfrm>
          <a:prstGeom prst="rect">
            <a:avLst/>
          </a:prstGeom>
          <a:noFill/>
          <a:ln w="41275">
            <a:solidFill>
              <a:srgbClr val="FFFF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45"/>
          <p:cNvSpPr/>
          <p:nvPr/>
        </p:nvSpPr>
        <p:spPr>
          <a:xfrm>
            <a:off x="5236908" y="3169285"/>
            <a:ext cx="353961" cy="368855"/>
          </a:xfrm>
          <a:prstGeom prst="rect">
            <a:avLst/>
          </a:prstGeom>
          <a:noFill/>
          <a:ln w="41275">
            <a:solidFill>
              <a:srgbClr val="FF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51"/>
          <p:cNvSpPr/>
          <p:nvPr/>
        </p:nvSpPr>
        <p:spPr>
          <a:xfrm>
            <a:off x="5701367" y="3243984"/>
            <a:ext cx="217302" cy="219456"/>
          </a:xfrm>
          <a:prstGeom prst="rightArrow">
            <a:avLst/>
          </a:prstGeom>
          <a:solidFill>
            <a:srgbClr val="94A3B8"/>
          </a:solidFill>
          <a:ln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/>
          <p:cNvSpPr/>
          <p:nvPr/>
        </p:nvSpPr>
        <p:spPr>
          <a:xfrm>
            <a:off x="0" y="-1"/>
            <a:ext cx="1580322" cy="745435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 smtClean="0">
                <a:solidFill>
                  <a:srgbClr val="FFFFFF"/>
                </a:solidFill>
                <a:latin typeface="맑은 고딕"/>
              </a:rPr>
              <a:t>step</a:t>
            </a:r>
            <a:r>
              <a:rPr lang="en-US" sz="2000" b="1" dirty="0" smtClean="0">
                <a:solidFill>
                  <a:srgbClr val="FFFFFF"/>
                </a:solidFill>
                <a:latin typeface="맑은 고딕"/>
              </a:rPr>
              <a:t>2</a:t>
            </a:r>
            <a:endParaRPr sz="2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44493" y="182880"/>
            <a:ext cx="82296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후보 탐색 </a:t>
            </a:r>
            <a:r>
              <a:rPr lang="en-US" altLang="ko-KR" sz="2800" b="1" dirty="0">
                <a:solidFill>
                  <a:srgbClr val="1A202C"/>
                </a:solidFill>
                <a:latin typeface="맑은 고딕"/>
              </a:rPr>
              <a:t>+ </a:t>
            </a:r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링 </a:t>
            </a:r>
            <a:r>
              <a:rPr lang="ko-KR" altLang="en-US" sz="2800" b="1" dirty="0" err="1" smtClean="0">
                <a:solidFill>
                  <a:srgbClr val="1A202C"/>
                </a:solidFill>
                <a:latin typeface="맑은 고딕"/>
              </a:rPr>
              <a:t>게이트</a:t>
            </a:r>
            <a:endParaRPr lang="en-US" altLang="ko-KR" sz="2800" b="1" dirty="0" smtClean="0">
              <a:solidFill>
                <a:srgbClr val="1A202C"/>
              </a:solidFill>
              <a:latin typeface="맑은 고딕"/>
            </a:endParaRPr>
          </a:p>
          <a:p>
            <a:r>
              <a:rPr lang="ko-KR" altLang="en-US" sz="2000" dirty="0">
                <a:solidFill>
                  <a:srgbClr val="1A202C"/>
                </a:solidFill>
                <a:latin typeface="맑은 고딕"/>
              </a:rPr>
              <a:t>후보 위치 선정</a:t>
            </a:r>
          </a:p>
        </p:txBody>
      </p:sp>
    </p:spTree>
    <p:extLst>
      <p:ext uri="{BB962C8B-B14F-4D97-AF65-F5344CB8AC3E}">
        <p14:creationId xmlns:p14="http://schemas.microsoft.com/office/powerpoint/2010/main" val="470614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275" y="1972186"/>
            <a:ext cx="2507227" cy="250722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239" y="4479413"/>
            <a:ext cx="7135761" cy="2378587"/>
          </a:xfrm>
          <a:prstGeom prst="rect">
            <a:avLst/>
          </a:prstGeom>
        </p:spPr>
      </p:pic>
      <p:cxnSp>
        <p:nvCxnSpPr>
          <p:cNvPr id="5" name="꺾인 연결선 4"/>
          <p:cNvCxnSpPr>
            <a:stCxn id="2" idx="3"/>
            <a:endCxn id="3" idx="0"/>
          </p:cNvCxnSpPr>
          <p:nvPr/>
        </p:nvCxnSpPr>
        <p:spPr>
          <a:xfrm>
            <a:off x="4381502" y="3225800"/>
            <a:ext cx="4242618" cy="1253613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6"/>
          <p:cNvSpPr/>
          <p:nvPr/>
        </p:nvSpPr>
        <p:spPr>
          <a:xfrm>
            <a:off x="0" y="-1"/>
            <a:ext cx="1580322" cy="745435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 smtClean="0">
                <a:solidFill>
                  <a:srgbClr val="FFFFFF"/>
                </a:solidFill>
                <a:latin typeface="맑은 고딕"/>
              </a:rPr>
              <a:t>step</a:t>
            </a:r>
            <a:r>
              <a:rPr lang="en-US" sz="2000" b="1" dirty="0" smtClean="0">
                <a:solidFill>
                  <a:srgbClr val="FFFFFF"/>
                </a:solidFill>
                <a:latin typeface="맑은 고딕"/>
              </a:rPr>
              <a:t>3</a:t>
            </a:r>
            <a:endParaRPr sz="2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44493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결함 이식 </a:t>
            </a:r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합성</a:t>
            </a:r>
            <a:endParaRPr lang="en-US" altLang="ko-KR" sz="2800" b="1" dirty="0" smtClean="0">
              <a:solidFill>
                <a:srgbClr val="1A202C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3380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33725" y="30400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76450" y="31321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753736"/>
              </p:ext>
            </p:extLst>
          </p:nvPr>
        </p:nvGraphicFramePr>
        <p:xfrm>
          <a:off x="4262645" y="1979613"/>
          <a:ext cx="4555048" cy="1609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8785"/>
                <a:gridCol w="1251870"/>
                <a:gridCol w="1405608"/>
                <a:gridCol w="948785"/>
              </a:tblGrid>
              <a:tr h="4191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effectLst/>
                        </a:rPr>
                        <a:t>Rate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effectLst/>
                        </a:rPr>
                        <a:t>Original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effectLst/>
                        </a:rPr>
                        <a:t>Added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effectLst/>
                        </a:rPr>
                        <a:t>Total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 dirty="0">
                          <a:effectLst/>
                        </a:rPr>
                        <a:t>20%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1,832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366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2,198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40%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1,832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733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2,565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60%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1,832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1,099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2,931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80%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1,832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1,466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3,298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100%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 dirty="0">
                          <a:effectLst/>
                        </a:rPr>
                        <a:t>1,832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1,832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 dirty="0">
                          <a:effectLst/>
                        </a:rPr>
                        <a:t>3,664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863949"/>
              </p:ext>
            </p:extLst>
          </p:nvPr>
        </p:nvGraphicFramePr>
        <p:xfrm>
          <a:off x="4262645" y="4036048"/>
          <a:ext cx="5030442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7833"/>
                <a:gridCol w="3102609"/>
              </a:tblGrid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effectLst/>
                        </a:rPr>
                        <a:t>Method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effectLst/>
                        </a:rPr>
                        <a:t>mAP@0.5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u="none" strike="noStrike">
                          <a:effectLst/>
                        </a:rPr>
                        <a:t>Baseline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500" u="none" strike="noStrike">
                          <a:effectLst/>
                        </a:rPr>
                        <a:t>0.3591 ± 0.0426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u="none" strike="noStrike">
                          <a:effectLst/>
                        </a:rPr>
                        <a:t>Random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500" u="none" strike="noStrike">
                          <a:effectLst/>
                        </a:rPr>
                        <a:t>0.4249 ± 0.0261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3238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500" u="none" strike="noStrike">
                          <a:effectLst/>
                        </a:rPr>
                        <a:t>양불판정연구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500" u="none" strike="noStrike" dirty="0">
                          <a:effectLst/>
                        </a:rPr>
                        <a:t>0.4533 ± </a:t>
                      </a:r>
                      <a:r>
                        <a:rPr lang="en-US" altLang="ko-KR" sz="1500" u="none" strike="noStrike" dirty="0" smtClean="0">
                          <a:effectLst/>
                        </a:rPr>
                        <a:t>0.030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542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500" u="none" strike="noStrike" dirty="0" err="1">
                          <a:effectLst/>
                        </a:rPr>
                        <a:t>양불판정연구</a:t>
                      </a:r>
                      <a:r>
                        <a:rPr lang="ko-KR" altLang="en-US" sz="1500" u="none" strike="noStrike" dirty="0">
                          <a:effectLst/>
                        </a:rPr>
                        <a:t> </a:t>
                      </a:r>
                      <a:r>
                        <a:rPr lang="en-US" altLang="ko-KR" sz="1500" u="none" strike="noStrike" dirty="0">
                          <a:effectLst/>
                        </a:rPr>
                        <a:t>vs. Baseline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u="none" strike="noStrike">
                          <a:effectLst/>
                        </a:rPr>
                        <a:t>+9.42 pp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552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500" u="none" strike="noStrike">
                          <a:effectLst/>
                        </a:rPr>
                        <a:t>양불판정연구 </a:t>
                      </a:r>
                      <a:r>
                        <a:rPr lang="en-US" altLang="ko-KR" sz="1500" u="none" strike="noStrike">
                          <a:effectLst/>
                        </a:rPr>
                        <a:t>vs. Random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u="none" strike="noStrike" dirty="0">
                          <a:effectLst/>
                        </a:rPr>
                        <a:t>+2.84 </a:t>
                      </a:r>
                      <a:r>
                        <a:rPr lang="en-US" sz="1500" u="none" strike="noStrike" dirty="0" err="1">
                          <a:effectLst/>
                        </a:rPr>
                        <a:t>pp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Rounded Rectangle 6"/>
          <p:cNvSpPr/>
          <p:nvPr/>
        </p:nvSpPr>
        <p:spPr>
          <a:xfrm>
            <a:off x="0" y="-1"/>
            <a:ext cx="1580322" cy="745435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 err="1" smtClean="0">
                <a:solidFill>
                  <a:srgbClr val="FFFFFF"/>
                </a:solidFill>
                <a:latin typeface="맑은 고딕"/>
              </a:rPr>
              <a:t>exp_yolo</a:t>
            </a:r>
            <a:endParaRPr sz="2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4493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합성 </a:t>
            </a:r>
            <a:r>
              <a:rPr lang="ko-KR" altLang="en-US" sz="2800" b="1" dirty="0" err="1" smtClean="0">
                <a:solidFill>
                  <a:srgbClr val="1A202C"/>
                </a:solidFill>
                <a:latin typeface="맑은 고딕"/>
              </a:rPr>
              <a:t>데이터셋</a:t>
            </a:r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 </a:t>
            </a:r>
            <a:r>
              <a:rPr lang="en-US" altLang="ko-KR" sz="2800" b="1" dirty="0" smtClean="0">
                <a:solidFill>
                  <a:srgbClr val="1A202C"/>
                </a:solidFill>
                <a:latin typeface="맑은 고딕"/>
              </a:rPr>
              <a:t>&amp; </a:t>
            </a:r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성능평가</a:t>
            </a:r>
            <a:endParaRPr sz="2600" b="1" dirty="0">
              <a:solidFill>
                <a:srgbClr val="1A202C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74961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185</Words>
  <Application>Microsoft Office PowerPoint</Application>
  <PresentationFormat>와이드스크린</PresentationFormat>
  <Paragraphs>70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Palatino Linotype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USER</dc:creator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2026-09-18T06:01:40Z</dcterms:modified>
  <cp:category/>
</cp:coreProperties>
</file>